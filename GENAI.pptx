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918" r:id="rId3"/>
    <p:sldId id="919" r:id="rId4"/>
    <p:sldId id="920" r:id="rId5"/>
    <p:sldId id="921" r:id="rId6"/>
    <p:sldId id="922" r:id="rId7"/>
    <p:sldId id="923" r:id="rId8"/>
    <p:sldId id="924" r:id="rId9"/>
    <p:sldId id="925" r:id="rId10"/>
    <p:sldId id="926" r:id="rId11"/>
    <p:sldId id="92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249" autoAdjust="0"/>
  </p:normalViewPr>
  <p:slideViewPr>
    <p:cSldViewPr snapToGrid="0">
      <p:cViewPr varScale="1">
        <p:scale>
          <a:sx n="64" d="100"/>
          <a:sy n="64" d="100"/>
        </p:scale>
        <p:origin x="222" y="108"/>
      </p:cViewPr>
      <p:guideLst/>
    </p:cSldViewPr>
  </p:slideViewPr>
  <p:outlineViewPr>
    <p:cViewPr>
      <p:scale>
        <a:sx n="33" d="100"/>
        <a:sy n="33" d="100"/>
      </p:scale>
      <p:origin x="0" y="-702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3B5FA-D27D-4D8F-8CEC-9BB68A60F4E4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A39E5-4846-442C-8BEF-ECC14511941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541760" y="6477001"/>
            <a:ext cx="56896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541760" y="6477001"/>
            <a:ext cx="56896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541760" y="6477001"/>
            <a:ext cx="56896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541760" y="6477001"/>
            <a:ext cx="56896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541760" y="6477001"/>
            <a:ext cx="56896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541760" y="6477001"/>
            <a:ext cx="56896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Prof. (Dr.) Tapas Badal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085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Prof. (Dr.) Tapas Badal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Prof. (Dr.) Tapas Badal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Prof. (Dr.) Tapas Badal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6618" y="274643"/>
            <a:ext cx="3291415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2367" y="274643"/>
            <a:ext cx="9671051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1" y="6356355"/>
            <a:ext cx="3860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Prof. (Dr.) Tapas Badal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35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665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7145">
              <a:lnSpc>
                <a:spcPts val="3080"/>
              </a:lnSpc>
            </a:pPr>
            <a:r>
              <a:rPr lang="en-IN"/>
              <a:t>Lecture</a:t>
            </a:r>
            <a:r>
              <a:rPr lang="en-IN" spc="-47"/>
              <a:t> </a:t>
            </a:r>
            <a:r>
              <a:rPr lang="en-IN"/>
              <a:t>13</a:t>
            </a:r>
            <a:r>
              <a:rPr lang="en-IN" spc="-47"/>
              <a:t> </a:t>
            </a:r>
            <a:r>
              <a:rPr lang="en-IN" spc="-67"/>
              <a:t>-</a:t>
            </a:r>
            <a:endParaRPr lang="en-IN" spc="-67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665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7145">
              <a:lnSpc>
                <a:spcPts val="3080"/>
              </a:lnSpc>
            </a:pPr>
            <a:r>
              <a:rPr lang="en-IN"/>
              <a:t>May</a:t>
            </a:r>
            <a:r>
              <a:rPr lang="en-IN" spc="-27"/>
              <a:t> </a:t>
            </a:r>
            <a:r>
              <a:rPr lang="en-IN"/>
              <a:t>12,</a:t>
            </a:r>
            <a:r>
              <a:rPr lang="en-IN" spc="-13"/>
              <a:t> </a:t>
            </a:r>
            <a:r>
              <a:rPr lang="en-IN" spc="-27"/>
              <a:t>2022</a:t>
            </a:r>
            <a:endParaRPr lang="en-IN" spc="-27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65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61925">
              <a:lnSpc>
                <a:spcPts val="3080"/>
              </a:lnSpc>
            </a:pPr>
            <a:fld id="{81D60167-4931-47E6-BA6A-407CBD079E47}" type="slidenum">
              <a:rPr lang="en-IN" spc="-67" smtClean="0"/>
            </a:fld>
            <a:endParaRPr lang="en-IN" spc="-67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0568" y="204249"/>
            <a:ext cx="8630073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282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35" b="0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665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7145">
              <a:lnSpc>
                <a:spcPts val="3080"/>
              </a:lnSpc>
            </a:pPr>
            <a:r>
              <a:rPr lang="en-IN"/>
              <a:t>Lecture</a:t>
            </a:r>
            <a:r>
              <a:rPr lang="en-IN" spc="-47"/>
              <a:t> </a:t>
            </a:r>
            <a:r>
              <a:rPr lang="en-IN"/>
              <a:t>13</a:t>
            </a:r>
            <a:r>
              <a:rPr lang="en-IN" spc="-47"/>
              <a:t> </a:t>
            </a:r>
            <a:r>
              <a:rPr lang="en-IN" spc="-67"/>
              <a:t>-</a:t>
            </a:r>
            <a:endParaRPr lang="en-IN" spc="-67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665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7145">
              <a:lnSpc>
                <a:spcPts val="3080"/>
              </a:lnSpc>
            </a:pPr>
            <a:r>
              <a:rPr lang="en-IN"/>
              <a:t>May</a:t>
            </a:r>
            <a:r>
              <a:rPr lang="en-IN" spc="-27"/>
              <a:t> </a:t>
            </a:r>
            <a:r>
              <a:rPr lang="en-IN"/>
              <a:t>12,</a:t>
            </a:r>
            <a:r>
              <a:rPr lang="en-IN" spc="-13"/>
              <a:t> </a:t>
            </a:r>
            <a:r>
              <a:rPr lang="en-IN" spc="-27"/>
              <a:t>2022</a:t>
            </a:r>
            <a:endParaRPr lang="en-IN" spc="-27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665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61925">
              <a:lnSpc>
                <a:spcPts val="3080"/>
              </a:lnSpc>
            </a:pPr>
            <a:fld id="{81D60167-4931-47E6-BA6A-407CBD079E47}" type="slidenum">
              <a:rPr lang="en-IN" spc="-67" smtClean="0"/>
            </a:fld>
            <a:endParaRPr lang="en-IN" spc="-67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3.jpeg"/><Relationship Id="rId15" Type="http://schemas.openxmlformats.org/officeDocument/2006/relationships/image" Target="../media/image2.jpeg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ster Page.jpg"/>
          <p:cNvPicPr>
            <a:picLocks noChangeAspect="1"/>
          </p:cNvPicPr>
          <p:nvPr userDrawn="1"/>
        </p:nvPicPr>
        <p:blipFill rotWithShape="1">
          <a:blip r:embed="rId14" cstate="screen"/>
          <a:srcRect r="33572"/>
          <a:stretch>
            <a:fillRect/>
          </a:stretch>
        </p:blipFill>
        <p:spPr>
          <a:xfrm>
            <a:off x="0" y="15321"/>
            <a:ext cx="8098971" cy="1143000"/>
          </a:xfrm>
          <a:prstGeom prst="rect">
            <a:avLst/>
          </a:prstGeom>
        </p:spPr>
      </p:pic>
      <p:pic>
        <p:nvPicPr>
          <p:cNvPr id="8" name="Picture 7" descr="Master Page.jpg"/>
          <p:cNvPicPr>
            <a:picLocks noChangeAspect="1"/>
          </p:cNvPicPr>
          <p:nvPr userDrawn="1"/>
        </p:nvPicPr>
        <p:blipFill rotWithShape="1">
          <a:blip r:embed="rId15" cstate="screen"/>
          <a:srcRect l="26990"/>
          <a:stretch>
            <a:fillRect/>
          </a:stretch>
        </p:blipFill>
        <p:spPr>
          <a:xfrm>
            <a:off x="3409307" y="6473347"/>
            <a:ext cx="8782693" cy="381000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394599" y="6473347"/>
            <a:ext cx="2119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www.bennett.edu.in</a:t>
            </a:r>
            <a:endParaRPr lang="en-I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541760" y="6477001"/>
            <a:ext cx="56896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914" y="47100"/>
            <a:ext cx="3644538" cy="112200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image" Target="../media/image6.sv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7.svg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1.png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5.png"/><Relationship Id="rId1" Type="http://schemas.openxmlformats.org/officeDocument/2006/relationships/tags" Target="../tags/tag5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BA02A10D-2263-4C90-A7AB-1C107B9DE31C}" type="slidenum">
              <a:rPr lang="en-US" smtClean="0"/>
            </a:fld>
            <a:endParaRPr lang="en-US" dirty="0"/>
          </a:p>
        </p:txBody>
      </p:sp>
      <p:sp>
        <p:nvSpPr>
          <p:cNvPr id="16" name="Text 0"/>
          <p:cNvSpPr/>
          <p:nvPr/>
        </p:nvSpPr>
        <p:spPr>
          <a:xfrm>
            <a:off x="653415" y="1626235"/>
            <a:ext cx="10410190" cy="21266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Image Defogging Algorithm Based on Metaheuristic Dark Channel Prior</a:t>
            </a:r>
            <a:endParaRPr lang="en-US" sz="4450" dirty="0"/>
          </a:p>
        </p:txBody>
      </p:sp>
      <p:sp>
        <p:nvSpPr>
          <p:cNvPr id="17" name="Text 1"/>
          <p:cNvSpPr/>
          <p:nvPr/>
        </p:nvSpPr>
        <p:spPr>
          <a:xfrm>
            <a:off x="653415" y="3818890"/>
            <a:ext cx="10410190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IN" alt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Submitted by-</a:t>
            </a:r>
            <a:b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Manrope" pitchFamily="34" charset="0"/>
                <a:ea typeface="Manrope" pitchFamily="34" charset="-122"/>
                <a:cs typeface="Manrope" pitchFamily="34" charset="-120"/>
              </a:rPr>
            </a:br>
            <a:r>
              <a:rPr lang="en-IN" alt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Divyansh Jain-E23CSEU1042</a:t>
            </a:r>
            <a:endParaRPr lang="en-IN" altLang="en-US" sz="17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IN" alt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Yousuff-E23CSEU</a:t>
            </a:r>
            <a:r>
              <a:rPr lang="en-US" altLang="en-IN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1242</a:t>
            </a:r>
            <a:br>
              <a:rPr lang="en-IN" alt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</a:br>
            <a:r>
              <a:rPr lang="en-IN" alt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Sh</a:t>
            </a:r>
            <a:r>
              <a:rPr lang="en-US" altLang="en-IN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au</a:t>
            </a:r>
            <a:r>
              <a:rPr lang="en-IN" alt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rya singh pundir-E23CSEU</a:t>
            </a:r>
            <a:r>
              <a:rPr lang="en-US" altLang="en-IN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1062</a:t>
            </a:r>
            <a:endParaRPr lang="en-IN" altLang="en-US" sz="17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IN" alt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Rohan pandey-E23CSEU</a:t>
            </a:r>
            <a:r>
              <a:rPr lang="en-US" altLang="en-IN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1076</a:t>
            </a:r>
            <a:endParaRPr lang="en-US" altLang="en-IN" sz="17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7394575" y="39357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latin typeface="+mj-lt"/>
                <a:cs typeface="+mj-lt"/>
              </a:rPr>
              <a:t>Submitted to-</a:t>
            </a:r>
            <a:br>
              <a:rPr lang="en-IN" altLang="en-US">
                <a:latin typeface="+mj-lt"/>
                <a:cs typeface="+mj-lt"/>
              </a:rPr>
            </a:br>
            <a:r>
              <a:rPr lang="en-IN" altLang="en-US">
                <a:latin typeface="+mj-lt"/>
                <a:cs typeface="+mj-lt"/>
              </a:rPr>
              <a:t>Mr.</a:t>
            </a:r>
            <a:r>
              <a:rPr lang="en-US" altLang="en-US">
                <a:latin typeface="+mj-lt"/>
                <a:cs typeface="+mj-lt"/>
              </a:rPr>
              <a:t>Prashant Shukl</a:t>
            </a:r>
            <a:r>
              <a:rPr lang="en-IN" altLang="en-US">
                <a:latin typeface="+mj-lt"/>
                <a:cs typeface="+mj-lt"/>
              </a:rPr>
              <a:t>a</a:t>
            </a:r>
            <a:endParaRPr lang="en-IN" altLang="en-US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541760" y="6467475"/>
            <a:ext cx="568960" cy="374650"/>
          </a:xfrm>
        </p:spPr>
        <p:txBody>
          <a:bodyPr/>
          <a:p>
            <a:fld id="{BA02A10D-2263-4C90-A7AB-1C107B9DE31C}" type="slidenum">
              <a:rPr lang="en-US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  <a:cs typeface="+mj-lt"/>
              </a:rPr>
            </a:fld>
            <a:endParaRPr lang="en-US" dirty="0" smtClean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+mj-lt"/>
              <a:cs typeface="+mj-lt"/>
            </a:endParaRPr>
          </a:p>
        </p:txBody>
      </p:sp>
      <p:sp>
        <p:nvSpPr>
          <p:cNvPr id="3" name="Text 0"/>
          <p:cNvSpPr/>
          <p:nvPr/>
        </p:nvSpPr>
        <p:spPr>
          <a:xfrm>
            <a:off x="152400" y="121285"/>
            <a:ext cx="6553835" cy="5073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  <a:ea typeface="Inter" panose="02000503000000020004" pitchFamily="34" charset="-122"/>
                <a:cs typeface="+mj-lt"/>
              </a:rPr>
              <a:t>What Is Image Defogging and Why Does It Matter</a:t>
            </a:r>
            <a:r>
              <a:rPr lang="en-US" sz="28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  <a:ea typeface="Inter" panose="02000503000000020004" pitchFamily="34" charset="-122"/>
                <a:cs typeface="+mj-lt"/>
              </a:rPr>
              <a:t>?</a:t>
            </a:r>
            <a:endParaRPr lang="en-US" sz="28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+mj-lt"/>
              <a:ea typeface="Inter" panose="02000503000000020004" pitchFamily="34" charset="-122"/>
              <a:cs typeface="+mj-lt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995" y="1457960"/>
            <a:ext cx="695590" cy="695590"/>
          </a:xfrm>
          <a:prstGeom prst="rect">
            <a:avLst/>
          </a:prstGeom>
        </p:spPr>
      </p:pic>
      <p:sp>
        <p:nvSpPr>
          <p:cNvPr id="5" name="Text 1"/>
          <p:cNvSpPr/>
          <p:nvPr>
            <p:custDataLst>
              <p:tags r:id="rId4"/>
            </p:custDataLst>
          </p:nvPr>
        </p:nvSpPr>
        <p:spPr>
          <a:xfrm>
            <a:off x="208915" y="1465580"/>
            <a:ext cx="4203700" cy="3841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  <a:ea typeface="Inter" panose="02000503000000020004" pitchFamily="34" charset="-122"/>
                <a:cs typeface="+mj-lt"/>
              </a:rPr>
              <a:t>Image Defogging Defined</a:t>
            </a:r>
            <a:endParaRPr lang="en-US" sz="22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+mj-lt"/>
              <a:ea typeface="Inter" panose="02000503000000020004" pitchFamily="34" charset="-122"/>
              <a:cs typeface="+mj-lt"/>
            </a:endParaRPr>
          </a:p>
        </p:txBody>
      </p:sp>
      <p:sp>
        <p:nvSpPr>
          <p:cNvPr id="6" name="Text 2"/>
          <p:cNvSpPr/>
          <p:nvPr>
            <p:custDataLst>
              <p:tags r:id="rId5"/>
            </p:custDataLst>
          </p:nvPr>
        </p:nvSpPr>
        <p:spPr>
          <a:xfrm>
            <a:off x="208915" y="1962785"/>
            <a:ext cx="8039735" cy="885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  <a:ea typeface="Manrope" pitchFamily="34" charset="-122"/>
                <a:cs typeface="+mj-lt"/>
              </a:rPr>
              <a:t>The process of computationally removing haze and fog from degraded images to restore clarity, contrast, and color fidelity.</a:t>
            </a:r>
            <a:endParaRPr lang="en-US" sz="17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+mj-lt"/>
              <a:ea typeface="Manrope" pitchFamily="34" charset="-122"/>
              <a:cs typeface="+mj-lt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995" y="3191991"/>
            <a:ext cx="695590" cy="695590"/>
          </a:xfrm>
          <a:prstGeom prst="rect">
            <a:avLst/>
          </a:prstGeom>
        </p:spPr>
      </p:pic>
      <p:sp>
        <p:nvSpPr>
          <p:cNvPr id="8" name="Text 3"/>
          <p:cNvSpPr/>
          <p:nvPr>
            <p:custDataLst>
              <p:tags r:id="rId8"/>
            </p:custDataLst>
          </p:nvPr>
        </p:nvSpPr>
        <p:spPr>
          <a:xfrm>
            <a:off x="208915" y="2982595"/>
            <a:ext cx="3863975" cy="314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  <a:ea typeface="Inter" panose="02000503000000020004" pitchFamily="34" charset="-122"/>
                <a:cs typeface="+mj-lt"/>
              </a:rPr>
              <a:t>Why Fog Degrades Images</a:t>
            </a:r>
            <a:endParaRPr lang="en-US" sz="22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+mj-lt"/>
              <a:ea typeface="Inter" panose="02000503000000020004" pitchFamily="34" charset="-122"/>
              <a:cs typeface="+mj-lt"/>
            </a:endParaRPr>
          </a:p>
        </p:txBody>
      </p:sp>
      <p:sp>
        <p:nvSpPr>
          <p:cNvPr id="9" name="Text 4"/>
          <p:cNvSpPr/>
          <p:nvPr>
            <p:custDataLst>
              <p:tags r:id="rId9"/>
            </p:custDataLst>
          </p:nvPr>
        </p:nvSpPr>
        <p:spPr>
          <a:xfrm>
            <a:off x="219075" y="3418840"/>
            <a:ext cx="8232775" cy="730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  <a:ea typeface="Manrope" pitchFamily="34" charset="-122"/>
                <a:cs typeface="+mj-lt"/>
              </a:rPr>
              <a:t>Airborne particles scatter and absorb light, reducing visibility, flattening contrast, and introducing color distortion.</a:t>
            </a:r>
            <a:endParaRPr lang="en-US" sz="17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+mj-lt"/>
              <a:ea typeface="Manrope" pitchFamily="34" charset="-122"/>
              <a:cs typeface="+mj-lt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8995" y="4925363"/>
            <a:ext cx="695590" cy="695590"/>
          </a:xfrm>
          <a:prstGeom prst="rect">
            <a:avLst/>
          </a:prstGeom>
        </p:spPr>
      </p:pic>
      <p:sp>
        <p:nvSpPr>
          <p:cNvPr id="11" name="Text 5"/>
          <p:cNvSpPr/>
          <p:nvPr>
            <p:custDataLst>
              <p:tags r:id="rId12"/>
            </p:custDataLst>
          </p:nvPr>
        </p:nvSpPr>
        <p:spPr>
          <a:xfrm>
            <a:off x="208915" y="4430395"/>
            <a:ext cx="3786505" cy="3638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  <a:ea typeface="Inter" panose="02000503000000020004" pitchFamily="34" charset="-122"/>
                <a:cs typeface="+mj-lt"/>
              </a:rPr>
              <a:t>Real-World Importance</a:t>
            </a:r>
            <a:endParaRPr lang="en-US" sz="22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+mj-lt"/>
              <a:ea typeface="Inter" panose="02000503000000020004" pitchFamily="34" charset="-122"/>
              <a:cs typeface="+mj-lt"/>
            </a:endParaRPr>
          </a:p>
        </p:txBody>
      </p:sp>
      <p:sp>
        <p:nvSpPr>
          <p:cNvPr id="12" name="Text 6"/>
          <p:cNvSpPr/>
          <p:nvPr>
            <p:custDataLst>
              <p:tags r:id="rId13"/>
            </p:custDataLst>
          </p:nvPr>
        </p:nvSpPr>
        <p:spPr>
          <a:xfrm>
            <a:off x="208781" y="4926633"/>
            <a:ext cx="8233021" cy="4048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  <a:ea typeface="Manrope" pitchFamily="34" charset="-122"/>
                <a:cs typeface="+mj-lt"/>
              </a:rPr>
              <a:t>Critical for autonomous driving, traffic surveillance, remote sensing, and any vision system operating in outdoor environments.</a:t>
            </a:r>
            <a:endParaRPr lang="en-US" sz="17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+mj-lt"/>
              <a:ea typeface="Manrope" pitchFamily="34" charset="-122"/>
              <a:cs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103610" y="6477000"/>
            <a:ext cx="446405" cy="247650"/>
          </a:xfrm>
        </p:spPr>
        <p:txBody>
          <a:bodyPr/>
          <a:p>
            <a:fld id="{BA02A10D-2263-4C90-A7AB-1C107B9DE31C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</a:fld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255826" y="138509"/>
            <a:ext cx="5138976" cy="64234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0C0D0F"/>
                </a:soli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Problem Statement</a:t>
            </a:r>
            <a:endParaRPr lang="en-US" sz="4000" dirty="0">
              <a:solidFill>
                <a:srgbClr val="0C0D0F"/>
              </a:soli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09166" y="1709301"/>
            <a:ext cx="3420308" cy="3211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Challenges in Foggy Images</a:t>
            </a:r>
            <a:endParaRPr lang="en-US" sz="20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Shape 2"/>
          <p:cNvSpPr/>
          <p:nvPr>
            <p:custDataLst>
              <p:tags r:id="rId1"/>
            </p:custDataLst>
          </p:nvPr>
        </p:nvSpPr>
        <p:spPr>
          <a:xfrm>
            <a:off x="255905" y="2419350"/>
            <a:ext cx="5840095" cy="107886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233045" y="2419350"/>
            <a:ext cx="76200" cy="1078865"/>
          </a:xfrm>
          <a:prstGeom prst="roundRect">
            <a:avLst>
              <a:gd name="adj" fmla="val 202326"/>
            </a:avLst>
          </a:prstGeom>
          <a:solidFill>
            <a:srgbClr val="FF7047"/>
          </a:solidFill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552450" y="2478405"/>
            <a:ext cx="2014855" cy="218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Low Contrast</a:t>
            </a:r>
            <a:endParaRPr lang="en-US" sz="20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552450" y="2843530"/>
            <a:ext cx="4563745" cy="4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Scene details become washed out, reducing edge sharpness and depth perception.</a:t>
            </a:r>
            <a:endParaRPr lang="en-US" sz="16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9" name="Shape 6"/>
          <p:cNvSpPr/>
          <p:nvPr>
            <p:custDataLst>
              <p:tags r:id="rId5"/>
            </p:custDataLst>
          </p:nvPr>
        </p:nvSpPr>
        <p:spPr>
          <a:xfrm>
            <a:off x="233045" y="3796030"/>
            <a:ext cx="5840095" cy="107886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210185" y="3796030"/>
            <a:ext cx="76200" cy="1078865"/>
          </a:xfrm>
          <a:prstGeom prst="roundRect">
            <a:avLst>
              <a:gd name="adj" fmla="val 202326"/>
            </a:avLst>
          </a:prstGeom>
          <a:solidFill>
            <a:srgbClr val="FF7047"/>
          </a:solidFill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529590" y="3825875"/>
            <a:ext cx="2014855" cy="218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Color Distortion</a:t>
            </a:r>
            <a:endParaRPr lang="en-US" sz="20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529590" y="4237355"/>
            <a:ext cx="4563745" cy="4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Haze introduces a white-gray cast that shifts true color values across the image.</a:t>
            </a:r>
            <a:endParaRPr lang="en-US" sz="16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3" name="Shape 10"/>
          <p:cNvSpPr/>
          <p:nvPr>
            <p:custDataLst>
              <p:tags r:id="rId9"/>
            </p:custDataLst>
          </p:nvPr>
        </p:nvSpPr>
        <p:spPr>
          <a:xfrm>
            <a:off x="233045" y="5173345"/>
            <a:ext cx="5840095" cy="107886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210185" y="5173345"/>
            <a:ext cx="76200" cy="1078865"/>
          </a:xfrm>
          <a:prstGeom prst="roundRect">
            <a:avLst>
              <a:gd name="adj" fmla="val 202326"/>
            </a:avLst>
          </a:prstGeom>
          <a:solidFill>
            <a:srgbClr val="FF7047"/>
          </a:solidFill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529590" y="5173345"/>
            <a:ext cx="2014855" cy="218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Information Loss</a:t>
            </a:r>
            <a:endParaRPr lang="en-US" sz="20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6" name="Text 13"/>
          <p:cNvSpPr/>
          <p:nvPr>
            <p:custDataLst>
              <p:tags r:id="rId12"/>
            </p:custDataLst>
          </p:nvPr>
        </p:nvSpPr>
        <p:spPr>
          <a:xfrm>
            <a:off x="529590" y="5499735"/>
            <a:ext cx="4563745" cy="4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Fine-grained textures and distant objects are entirely lost in thick fog conditions.</a:t>
            </a:r>
            <a:endParaRPr lang="en-US" sz="16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59855" y="1672590"/>
            <a:ext cx="3864610" cy="3213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Limitations of Existing Methods</a:t>
            </a:r>
            <a:endParaRPr lang="en-US" sz="20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8" name="Shape 15"/>
          <p:cNvSpPr/>
          <p:nvPr>
            <p:custDataLst>
              <p:tags r:id="rId13"/>
            </p:custDataLst>
          </p:nvPr>
        </p:nvSpPr>
        <p:spPr>
          <a:xfrm>
            <a:off x="6501130" y="2382520"/>
            <a:ext cx="5071745" cy="107886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6"/>
          <p:cNvSpPr/>
          <p:nvPr>
            <p:custDataLst>
              <p:tags r:id="rId14"/>
            </p:custDataLst>
          </p:nvPr>
        </p:nvSpPr>
        <p:spPr>
          <a:xfrm>
            <a:off x="6572885" y="2382520"/>
            <a:ext cx="78105" cy="1078865"/>
          </a:xfrm>
          <a:prstGeom prst="roundRect">
            <a:avLst>
              <a:gd name="adj" fmla="val 202326"/>
            </a:avLst>
          </a:prstGeom>
          <a:solidFill>
            <a:srgbClr val="FF7047"/>
          </a:solidFill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7"/>
          <p:cNvSpPr/>
          <p:nvPr>
            <p:custDataLst>
              <p:tags r:id="rId15"/>
            </p:custDataLst>
          </p:nvPr>
        </p:nvSpPr>
        <p:spPr>
          <a:xfrm>
            <a:off x="6856095" y="2441575"/>
            <a:ext cx="2053590" cy="218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Image Enhancement</a:t>
            </a:r>
            <a:endParaRPr lang="en-US" sz="20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21" name="Text 18"/>
          <p:cNvSpPr/>
          <p:nvPr>
            <p:custDataLst>
              <p:tags r:id="rId16"/>
            </p:custDataLst>
          </p:nvPr>
        </p:nvSpPr>
        <p:spPr>
          <a:xfrm>
            <a:off x="6824345" y="2806700"/>
            <a:ext cx="4651375" cy="4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Histogram equalization amplifies noise and introduces halos without physical modeling.</a:t>
            </a:r>
            <a:endParaRPr lang="en-US" sz="16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22" name="Shape 19"/>
          <p:cNvSpPr/>
          <p:nvPr>
            <p:custDataLst>
              <p:tags r:id="rId17"/>
            </p:custDataLst>
          </p:nvPr>
        </p:nvSpPr>
        <p:spPr>
          <a:xfrm>
            <a:off x="6489700" y="3759200"/>
            <a:ext cx="5071745" cy="107886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0"/>
          <p:cNvSpPr/>
          <p:nvPr>
            <p:custDataLst>
              <p:tags r:id="rId18"/>
            </p:custDataLst>
          </p:nvPr>
        </p:nvSpPr>
        <p:spPr>
          <a:xfrm>
            <a:off x="6550025" y="3759200"/>
            <a:ext cx="78105" cy="1078865"/>
          </a:xfrm>
          <a:prstGeom prst="roundRect">
            <a:avLst>
              <a:gd name="adj" fmla="val 202326"/>
            </a:avLst>
          </a:prstGeom>
          <a:solidFill>
            <a:srgbClr val="FF7047"/>
          </a:solidFill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1"/>
          <p:cNvSpPr/>
          <p:nvPr>
            <p:custDataLst>
              <p:tags r:id="rId19"/>
            </p:custDataLst>
          </p:nvPr>
        </p:nvSpPr>
        <p:spPr>
          <a:xfrm>
            <a:off x="6822440" y="3759200"/>
            <a:ext cx="2589530" cy="218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Classic Dark Channel Prior</a:t>
            </a:r>
            <a:endParaRPr lang="en-US" sz="20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25" name="Text 22"/>
          <p:cNvSpPr/>
          <p:nvPr>
            <p:custDataLst>
              <p:tags r:id="rId20"/>
            </p:custDataLst>
          </p:nvPr>
        </p:nvSpPr>
        <p:spPr>
          <a:xfrm>
            <a:off x="6784340" y="4200525"/>
            <a:ext cx="4651375" cy="4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Fails in sky regions and bright surfaces; sky segmentation is often ignored.</a:t>
            </a:r>
            <a:endParaRPr lang="en-US" sz="16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26" name="Shape 23"/>
          <p:cNvSpPr/>
          <p:nvPr>
            <p:custDataLst>
              <p:tags r:id="rId21"/>
            </p:custDataLst>
          </p:nvPr>
        </p:nvSpPr>
        <p:spPr>
          <a:xfrm>
            <a:off x="6478270" y="5136515"/>
            <a:ext cx="5071745" cy="107886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2286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4"/>
          <p:cNvSpPr/>
          <p:nvPr>
            <p:custDataLst>
              <p:tags r:id="rId22"/>
            </p:custDataLst>
          </p:nvPr>
        </p:nvSpPr>
        <p:spPr>
          <a:xfrm>
            <a:off x="6550025" y="5136515"/>
            <a:ext cx="78105" cy="1078865"/>
          </a:xfrm>
          <a:prstGeom prst="roundRect">
            <a:avLst>
              <a:gd name="adj" fmla="val 202326"/>
            </a:avLst>
          </a:prstGeom>
          <a:solidFill>
            <a:srgbClr val="FF7047"/>
          </a:solidFill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5"/>
          <p:cNvSpPr/>
          <p:nvPr>
            <p:custDataLst>
              <p:tags r:id="rId23"/>
            </p:custDataLst>
          </p:nvPr>
        </p:nvSpPr>
        <p:spPr>
          <a:xfrm>
            <a:off x="6847840" y="5135880"/>
            <a:ext cx="2193290" cy="2184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Deep Learning Models</a:t>
            </a:r>
            <a:endParaRPr lang="en-US" sz="20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29" name="Text 26"/>
          <p:cNvSpPr/>
          <p:nvPr>
            <p:custDataLst>
              <p:tags r:id="rId24"/>
            </p:custDataLst>
          </p:nvPr>
        </p:nvSpPr>
        <p:spPr>
          <a:xfrm>
            <a:off x="6784340" y="5526405"/>
            <a:ext cx="4651375" cy="425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Require large labeled datasets, heavy computation</a:t>
            </a:r>
            <a:r>
              <a:rPr lang="en-IN" altLang="en-US" sz="16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.</a:t>
            </a:r>
            <a:endParaRPr lang="en-IN" altLang="en-US" sz="16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369675" y="6182361"/>
            <a:ext cx="568960" cy="365125"/>
          </a:xfrm>
        </p:spPr>
        <p:txBody>
          <a:bodyPr/>
          <a:p>
            <a:fld id="{BA02A10D-2263-4C90-A7AB-1C107B9DE31C}" type="slidenum">
              <a:rPr lang="en-US" smtClean="0"/>
            </a:fld>
            <a:endParaRPr lang="en-US" dirty="0"/>
          </a:p>
        </p:txBody>
      </p:sp>
      <p:sp>
        <p:nvSpPr>
          <p:cNvPr id="3" name="Text 0"/>
          <p:cNvSpPr/>
          <p:nvPr/>
        </p:nvSpPr>
        <p:spPr>
          <a:xfrm>
            <a:off x="70485" y="265430"/>
            <a:ext cx="8906510" cy="4667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280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Proposed Solution </a:t>
            </a:r>
            <a:r>
              <a:rPr lang="en-IN" altLang="en-US" sz="280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r>
              <a:rPr lang="en-US" sz="2800" dirty="0">
                <a:solidFill>
                  <a:srgbClr val="0C0D0F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Hybrid Approach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70180" y="1349375"/>
            <a:ext cx="11337290" cy="5740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This research combines physics-based modeling with intelligent optimization to overcome the limitations of each individual technique.</a:t>
            </a:r>
            <a:endParaRPr 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70180" y="2026920"/>
            <a:ext cx="5636260" cy="1910715"/>
          </a:xfrm>
          <a:prstGeom prst="roundRect">
            <a:avLst>
              <a:gd name="adj" fmla="val 7041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334010" y="2245995"/>
            <a:ext cx="2315210" cy="233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Sky Segmentation</a:t>
            </a:r>
            <a:endParaRPr lang="en-US" sz="205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34010" y="2924175"/>
            <a:ext cx="5252085" cy="463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Separates sky and non-sky regions for accurate atmospheric light estimation without sky-region bias.</a:t>
            </a:r>
            <a:endParaRPr 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302375" y="2026920"/>
            <a:ext cx="5636260" cy="1910715"/>
          </a:xfrm>
          <a:prstGeom prst="roundRect">
            <a:avLst>
              <a:gd name="adj" fmla="val 7041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435090" y="2245995"/>
            <a:ext cx="2315210" cy="233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Dark Channel Prior</a:t>
            </a:r>
            <a:endParaRPr lang="en-US" sz="205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435090" y="2802255"/>
            <a:ext cx="5252085" cy="695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Estimates scene transmission using the statistical observation that haze-free images have very dark pixels in local patches.</a:t>
            </a:r>
            <a:endParaRPr 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170180" y="4266565"/>
            <a:ext cx="5636260" cy="1678940"/>
          </a:xfrm>
          <a:prstGeom prst="roundRect">
            <a:avLst>
              <a:gd name="adj" fmla="val 8012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334010" y="4498340"/>
            <a:ext cx="2315210" cy="233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PCA Refinement</a:t>
            </a:r>
            <a:endParaRPr lang="en-US" sz="205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362585" y="4874260"/>
            <a:ext cx="5252085" cy="463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Principal Component Analysis refines the transmission map, reducing noise and preserving edge integrity.</a:t>
            </a:r>
            <a:endParaRPr 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302375" y="4220845"/>
            <a:ext cx="5636260" cy="1724660"/>
          </a:xfrm>
          <a:prstGeom prst="roundRect">
            <a:avLst>
              <a:gd name="adj" fmla="val 8012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6511290" y="4498340"/>
            <a:ext cx="2315210" cy="233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RBMO Optimization</a:t>
            </a:r>
            <a:endParaRPr lang="en-US" sz="205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6435090" y="4874260"/>
            <a:ext cx="5252085" cy="463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A metaheuristic optimizer fine-tunes defogging parameters for maximum PSNR and SSIM performance.</a:t>
            </a:r>
            <a:endParaRPr 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25" name="Rectangle 23"/>
          <p:cNvSpPr/>
          <p:nvPr/>
        </p:nvSpPr>
        <p:spPr>
          <a:xfrm>
            <a:off x="11687175" y="7070725"/>
            <a:ext cx="1623695" cy="3092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483975" y="4676776"/>
            <a:ext cx="568960" cy="365125"/>
          </a:xfrm>
        </p:spPr>
        <p:txBody>
          <a:bodyPr/>
          <a:p>
            <a:fld id="{BA02A10D-2263-4C90-A7AB-1C107B9DE31C}" type="slidenum">
              <a:rPr lang="en-US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cs typeface="Calibri" panose="020F0502020204030204" pitchFamily="34" charset="0"/>
              </a:rPr>
            </a:fld>
            <a:endParaRPr lang="en-US" dirty="0" smtClean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134620" y="246380"/>
            <a:ext cx="6586220" cy="3676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28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System Architecture — Processing Pipeline</a:t>
            </a:r>
            <a:endParaRPr lang="en-US" sz="28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26440"/>
            <a:ext cx="11779250" cy="48190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99640" y="1396365"/>
            <a:ext cx="1344930" cy="2197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Input</a:t>
            </a:r>
            <a:endParaRPr lang="en-US" sz="21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899285" y="1677035"/>
            <a:ext cx="2061845" cy="158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Foggy image</a:t>
            </a:r>
            <a:endParaRPr 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3883660" y="4985385"/>
            <a:ext cx="2072640" cy="43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Sky Segmentation</a:t>
            </a:r>
            <a:endParaRPr lang="en-US" sz="21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3850640" y="4465320"/>
            <a:ext cx="2072640" cy="3155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Isolate bright sky regions</a:t>
            </a:r>
            <a:endParaRPr 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5962015" y="1176655"/>
            <a:ext cx="2061845" cy="43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Atmospheric Light</a:t>
            </a:r>
            <a:endParaRPr lang="en-US" sz="21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5956300" y="1519555"/>
            <a:ext cx="2061845" cy="3155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Estimate ambient illumination</a:t>
            </a:r>
            <a:endParaRPr 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8023860" y="4972685"/>
            <a:ext cx="2061845" cy="43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Transmission Map</a:t>
            </a:r>
            <a:endParaRPr lang="en-US" sz="21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8023860" y="4746625"/>
            <a:ext cx="2061845" cy="158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DCP + PCA estimation</a:t>
            </a:r>
            <a:endParaRPr 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266065" y="5424805"/>
            <a:ext cx="11779250" cy="3384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Each stage is modular and physics-grounded: sky segmentation isolates problematic bright regions, the DCP+PCA block computes a clean transmission map, and RBMO optimally tunes parameters before final image reconstruction.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BA02A10D-2263-4C90-A7AB-1C107B9DE31C}" type="slidenum">
              <a:rPr lang="en-US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cs typeface="Calibri" panose="020F0502020204030204" pitchFamily="34" charset="0"/>
              </a:rPr>
            </a:fld>
            <a:endParaRPr lang="en-US" dirty="0" smtClean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187960" y="71755"/>
            <a:ext cx="6022340" cy="3625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Key Concepts — The Physics Behind Defogging</a:t>
            </a:r>
            <a:endParaRPr lang="en-US" sz="28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23875" y="3064510"/>
            <a:ext cx="5636895" cy="2694940"/>
          </a:xfrm>
          <a:prstGeom prst="roundRect">
            <a:avLst>
              <a:gd name="adj" fmla="val 7877"/>
            </a:avLst>
          </a:prstGeom>
          <a:solidFill>
            <a:srgbClr val="FFF0ED"/>
          </a:solidFill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3700" y="1439545"/>
            <a:ext cx="3484245" cy="181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Atmospheric Scattering Model</a:t>
            </a:r>
            <a:endParaRPr lang="en-US" sz="22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2202180"/>
            <a:ext cx="5247640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The fundamental equation relating observed hazy image </a:t>
            </a:r>
            <a:r>
              <a:rPr lang="en-US" sz="17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I(x)</a:t>
            </a: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 to the scene radiance </a:t>
            </a:r>
            <a:r>
              <a:rPr lang="en-US" sz="17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J(x)</a:t>
            </a: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:</a:t>
            </a:r>
            <a:endParaRPr lang="en-US" sz="17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3052445"/>
            <a:ext cx="5247640" cy="2012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00" y="3533775"/>
            <a:ext cx="5247640" cy="3371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150360"/>
            <a:ext cx="5247640" cy="638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J(x)</a:t>
            </a: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 — Scene radiance (dehazed image)</a:t>
            </a:r>
            <a:endParaRPr lang="en-US" sz="17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t(x)</a:t>
            </a: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 — Transmission map (fog density)</a:t>
            </a:r>
            <a:endParaRPr lang="en-US" sz="17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A</a:t>
            </a: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 — Global atmospheric light</a:t>
            </a:r>
            <a:endParaRPr lang="en-US" sz="17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961505" y="1439545"/>
            <a:ext cx="2432050" cy="1816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Dark Channel Prior</a:t>
            </a:r>
            <a:endParaRPr lang="en-US" sz="22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835775" y="2237105"/>
            <a:ext cx="5356225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For a haze-free image, the dark channel </a:t>
            </a:r>
            <a:r>
              <a:rPr lang="en-US" sz="17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Jdark</a:t>
            </a: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 in most local patches is near zero:</a:t>
            </a:r>
            <a:endParaRPr lang="en-US" sz="17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446645" y="3224530"/>
            <a:ext cx="5356225" cy="3822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495" y="3382010"/>
            <a:ext cx="5356225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54495" y="4264025"/>
            <a:ext cx="5356225" cy="55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Fog violates this prior — patches appear brighter. The degree of violation directly estimates the transmission </a:t>
            </a:r>
            <a:r>
              <a:rPr lang="en-US" sz="17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t(x)</a:t>
            </a:r>
            <a:r>
              <a:rPr lang="en-US" sz="17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, enabling fog removal without ground-truth data.</a:t>
            </a:r>
            <a:endParaRPr lang="en-US" sz="17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5" name="Rectangle 13"/>
          <p:cNvSpPr/>
          <p:nvPr/>
        </p:nvSpPr>
        <p:spPr>
          <a:xfrm>
            <a:off x="10517505" y="6291580"/>
            <a:ext cx="1598930" cy="3181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250230" y="254040"/>
            <a:ext cx="7655481" cy="13289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36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Optimization Technique </a:t>
            </a:r>
            <a:r>
              <a:rPr lang="en-US" altLang="en-US" sz="36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YOLOv8 Nano</a:t>
            </a:r>
            <a:endParaRPr lang="en-US" altLang="en-US" sz="36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Shape 1"/>
          <p:cNvSpPr/>
          <p:nvPr>
            <p:custDataLst>
              <p:tags r:id="rId1"/>
            </p:custDataLst>
          </p:nvPr>
        </p:nvSpPr>
        <p:spPr>
          <a:xfrm>
            <a:off x="300990" y="1696720"/>
            <a:ext cx="626745" cy="478155"/>
          </a:xfrm>
          <a:prstGeom prst="roundRect">
            <a:avLst>
              <a:gd name="adj" fmla="val 40006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/>
          <p:cNvSpPr/>
          <p:nvPr>
            <p:custDataLst>
              <p:tags r:id="rId2"/>
            </p:custDataLst>
          </p:nvPr>
        </p:nvSpPr>
        <p:spPr>
          <a:xfrm>
            <a:off x="381000" y="1736725"/>
            <a:ext cx="417830" cy="398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1</a:t>
            </a:r>
            <a:endParaRPr lang="en-US" sz="25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978535" y="1769745"/>
            <a:ext cx="3486150" cy="3321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altLang="en-US" sz="20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Introduction</a:t>
            </a:r>
            <a:endParaRPr lang="en-US" altLang="en-US" sz="205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978535" y="2221230"/>
            <a:ext cx="9152255" cy="988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alt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YOLOv8 Nano (YOLOv8n) is a lightweight version of YOLO used for real-time object detection.</a:t>
            </a:r>
            <a:endParaRPr lang="en-US" alt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alt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It is designed to detect objects quickly and efficiently with low computational cost.</a:t>
            </a:r>
            <a:endParaRPr lang="en-US" alt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8" name="Shape 5"/>
          <p:cNvSpPr/>
          <p:nvPr>
            <p:custDataLst>
              <p:tags r:id="rId5"/>
            </p:custDataLst>
          </p:nvPr>
        </p:nvSpPr>
        <p:spPr>
          <a:xfrm>
            <a:off x="300990" y="3123565"/>
            <a:ext cx="626745" cy="478155"/>
          </a:xfrm>
          <a:prstGeom prst="roundRect">
            <a:avLst>
              <a:gd name="adj" fmla="val 40006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381000" y="3163570"/>
            <a:ext cx="417830" cy="398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2</a:t>
            </a:r>
            <a:endParaRPr lang="en-US" sz="25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978535" y="3196590"/>
            <a:ext cx="5154295" cy="3321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altLang="en-US" sz="20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Objective</a:t>
            </a:r>
            <a:endParaRPr lang="en-US" altLang="en-US" sz="205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978535" y="3528695"/>
            <a:ext cx="9152255" cy="988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alt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Detect objects in real-time</a:t>
            </a:r>
            <a:endParaRPr lang="en-US" alt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alt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Identify important regions in an image</a:t>
            </a:r>
            <a:endParaRPr lang="en-US" alt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alt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Work efficiently on low-resource devices</a:t>
            </a:r>
            <a:endParaRPr lang="en-US" alt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2" name="Shape 9"/>
          <p:cNvSpPr/>
          <p:nvPr>
            <p:custDataLst>
              <p:tags r:id="rId9"/>
            </p:custDataLst>
          </p:nvPr>
        </p:nvSpPr>
        <p:spPr>
          <a:xfrm>
            <a:off x="250190" y="4670425"/>
            <a:ext cx="626745" cy="478155"/>
          </a:xfrm>
          <a:prstGeom prst="roundRect">
            <a:avLst>
              <a:gd name="adj" fmla="val 40006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330200" y="4749800"/>
            <a:ext cx="417830" cy="398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3</a:t>
            </a:r>
            <a:endParaRPr lang="en-US" sz="25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927735" y="4670425"/>
            <a:ext cx="4282440" cy="3321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IN" altLang="en-US" sz="20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Overview</a:t>
            </a:r>
            <a:endParaRPr lang="en-IN" altLang="en-US" sz="205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5" name="Text 12"/>
          <p:cNvSpPr/>
          <p:nvPr>
            <p:custDataLst>
              <p:tags r:id="rId12"/>
            </p:custDataLst>
          </p:nvPr>
        </p:nvSpPr>
        <p:spPr>
          <a:xfrm>
            <a:off x="927735" y="5002530"/>
            <a:ext cx="9152255" cy="9886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altLang="en-US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YOLOv8 Nano is an efficient object detection model that provides fast and accurate results, making it ideal for real-time systems like Drive Guardian.</a:t>
            </a:r>
            <a:endParaRPr lang="en-US" altLang="en-US" sz="16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0070" y="2875915"/>
            <a:ext cx="6473190" cy="2045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148630" y="132437"/>
            <a:ext cx="9216628" cy="6866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32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Results &amp; Performance Comparison</a:t>
            </a:r>
            <a:endParaRPr lang="en-US" sz="32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48630" y="1351042"/>
            <a:ext cx="2746653" cy="343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Evaluation Datasets</a:t>
            </a:r>
            <a:endParaRPr lang="en-US" sz="215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Shape 2"/>
          <p:cNvSpPr/>
          <p:nvPr>
            <p:custDataLst>
              <p:tags r:id="rId1"/>
            </p:custDataLst>
          </p:nvPr>
        </p:nvSpPr>
        <p:spPr>
          <a:xfrm>
            <a:off x="148630" y="1933734"/>
            <a:ext cx="3032641" cy="1702832"/>
          </a:xfrm>
          <a:prstGeom prst="roundRect">
            <a:avLst>
              <a:gd name="adj" fmla="val 1161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375920" y="2161024"/>
            <a:ext cx="2578060" cy="343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IN" altLang="en-US" sz="21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YOLO-V8 NANO</a:t>
            </a:r>
            <a:endParaRPr lang="en-IN" altLang="en-US" sz="21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375920" y="2717046"/>
            <a:ext cx="2578060" cy="692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Synthetic outdoor test set</a:t>
            </a:r>
            <a:endParaRPr lang="en-US" sz="17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8" name="Shape 5"/>
          <p:cNvSpPr/>
          <p:nvPr>
            <p:custDataLst>
              <p:tags r:id="rId4"/>
            </p:custDataLst>
          </p:nvPr>
        </p:nvSpPr>
        <p:spPr>
          <a:xfrm>
            <a:off x="3394035" y="1933734"/>
            <a:ext cx="3032760" cy="1702832"/>
          </a:xfrm>
          <a:prstGeom prst="roundRect">
            <a:avLst>
              <a:gd name="adj" fmla="val 1161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3621326" y="2161024"/>
            <a:ext cx="2578179" cy="343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IN" altLang="en-US" sz="21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DEHAZE</a:t>
            </a:r>
            <a:endParaRPr lang="en-IN" altLang="en-US" sz="21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3621326" y="2717046"/>
            <a:ext cx="2578179" cy="692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Hybrid subjective test set</a:t>
            </a:r>
            <a:endParaRPr lang="en-US" sz="17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148630" y="3849330"/>
            <a:ext cx="3032641" cy="1702832"/>
          </a:xfrm>
          <a:prstGeom prst="roundRect">
            <a:avLst>
              <a:gd name="adj" fmla="val 1161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375920" y="4076621"/>
            <a:ext cx="2578060" cy="343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O-HAZE</a:t>
            </a:r>
            <a:endParaRPr lang="en-US" sz="21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375920" y="4632643"/>
            <a:ext cx="2578060" cy="6922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Real outdoor hazy scenes</a:t>
            </a:r>
            <a:endParaRPr lang="en-US" sz="17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3394035" y="3849330"/>
            <a:ext cx="3032760" cy="1702832"/>
          </a:xfrm>
          <a:prstGeom prst="roundRect">
            <a:avLst>
              <a:gd name="adj" fmla="val 11614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I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3621326" y="4076621"/>
            <a:ext cx="2578179" cy="343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I-HAZE</a:t>
            </a:r>
            <a:endParaRPr lang="en-US" sz="215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6" name="Text 13"/>
          <p:cNvSpPr/>
          <p:nvPr>
            <p:custDataLst>
              <p:tags r:id="rId12"/>
            </p:custDataLst>
          </p:nvPr>
        </p:nvSpPr>
        <p:spPr>
          <a:xfrm>
            <a:off x="3621326" y="4632643"/>
            <a:ext cx="2578179" cy="3461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Real indoor hazy scenes</a:t>
            </a:r>
            <a:endParaRPr lang="en-US" sz="17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845975" y="1367552"/>
            <a:ext cx="3050977" cy="343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Key Performance Gains</a:t>
            </a:r>
            <a:endParaRPr lang="en-US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913563" y="1924209"/>
            <a:ext cx="2746653" cy="343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Higher PSNR &amp; SSIM</a:t>
            </a:r>
            <a:endParaRPr lang="en-US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913880" y="2480310"/>
            <a:ext cx="5149850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Outperforms classic DCP, CLAHE, and CNN-based methods across all four benchmark datasets.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913563" y="3598108"/>
            <a:ext cx="3384828" cy="343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Reduced Halos &amp; Artifacts</a:t>
            </a:r>
            <a:endParaRPr lang="en-US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6913880" y="4154170"/>
            <a:ext cx="5170170" cy="1038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Sky segmentation eliminates the over-saturation and halo artifacts common in standard DCP at boundary regions.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BA02A10D-2263-4C90-A7AB-1C107B9DE31C}" type="slidenum">
              <a:rPr lang="en-US" sz="1400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cs typeface="Calibri" panose="020F0502020204030204" pitchFamily="34" charset="0"/>
              </a:rPr>
            </a:fld>
            <a:endParaRPr lang="en-US" sz="1400" dirty="0" smtClean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277535" y="175855"/>
            <a:ext cx="1029997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Advantages &amp; Real-World Applications</a:t>
            </a:r>
            <a:endParaRPr lang="en-US" sz="28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Text 1"/>
          <p:cNvSpPr/>
          <p:nvPr>
            <p:custDataLst>
              <p:tags r:id="rId1"/>
            </p:custDataLst>
          </p:nvPr>
        </p:nvSpPr>
        <p:spPr>
          <a:xfrm>
            <a:off x="277535" y="311241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Autonomous Driving</a:t>
            </a:r>
            <a:endParaRPr lang="en-US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Text 2"/>
          <p:cNvSpPr/>
          <p:nvPr>
            <p:custDataLst>
              <p:tags r:id="rId2"/>
            </p:custDataLst>
          </p:nvPr>
        </p:nvSpPr>
        <p:spPr>
          <a:xfrm>
            <a:off x="277495" y="3602990"/>
            <a:ext cx="330517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Enhances camera feeds in low-visibility conditions, enabling reliable object detection and lane tracking in fog or haze.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8" name="Text 3"/>
          <p:cNvSpPr/>
          <p:nvPr>
            <p:custDataLst>
              <p:tags r:id="rId3"/>
            </p:custDataLst>
          </p:nvPr>
        </p:nvSpPr>
        <p:spPr>
          <a:xfrm>
            <a:off x="4333875" y="3112135"/>
            <a:ext cx="347916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Surveillance &amp; Security</a:t>
            </a:r>
            <a:endParaRPr lang="en-US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9" name="Text 4"/>
          <p:cNvSpPr/>
          <p:nvPr>
            <p:custDataLst>
              <p:tags r:id="rId4"/>
            </p:custDataLst>
          </p:nvPr>
        </p:nvSpPr>
        <p:spPr>
          <a:xfrm>
            <a:off x="4333875" y="3602990"/>
            <a:ext cx="3929380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Restores clarity in CCTV footage captured in adverse weather, improving facial recognition and incident detection accuracy.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1" name="Text 5"/>
          <p:cNvSpPr/>
          <p:nvPr>
            <p:custDataLst>
              <p:tags r:id="rId5"/>
            </p:custDataLst>
          </p:nvPr>
        </p:nvSpPr>
        <p:spPr>
          <a:xfrm>
            <a:off x="8625840" y="3112135"/>
            <a:ext cx="337121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Remote Sensing</a:t>
            </a:r>
            <a:endParaRPr lang="en-US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12" name="Text 6"/>
          <p:cNvSpPr/>
          <p:nvPr>
            <p:custDataLst>
              <p:tags r:id="rId6"/>
            </p:custDataLst>
          </p:nvPr>
        </p:nvSpPr>
        <p:spPr>
          <a:xfrm>
            <a:off x="8546465" y="3602990"/>
            <a:ext cx="3445510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Processes hazy satellite and drone imagery for accurate land mapping, disaster response, and environmental monitoring.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277495" y="5309870"/>
            <a:ext cx="11207750" cy="1009015"/>
          </a:xfrm>
          <a:prstGeom prst="roundRect">
            <a:avLst>
              <a:gd name="adj" fmla="val 15387"/>
            </a:avLst>
          </a:prstGeom>
          <a:solidFill>
            <a:srgbClr val="B6FCB8"/>
          </a:solidFill>
        </p:spPr>
        <p:txBody>
          <a:bodyPr/>
          <a:lstStyle/>
          <a:p>
            <a:endParaRPr lang="en-IN" sz="1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349" y="5661303"/>
            <a:ext cx="283488" cy="2268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14730" y="5412105"/>
            <a:ext cx="1023366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Key advantage: The hybrid approach preserves fine detail and works robustly on real-world images  without requiring paired training data.</a:t>
            </a:r>
            <a:endParaRPr lang="en-US" sz="14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9865" y="1261110"/>
            <a:ext cx="2911475" cy="183134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185" y="1233805"/>
            <a:ext cx="2969260" cy="185864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3255" y="1261110"/>
            <a:ext cx="2429510" cy="1886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p>
            <a:fld id="{BA02A10D-2263-4C90-A7AB-1C107B9DE31C}" type="slidenum">
              <a:rPr lang="en-US" smtClean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cs typeface="Calibri" panose="020F0502020204030204" pitchFamily="34" charset="0"/>
              </a:rPr>
            </a:fld>
            <a:endParaRPr lang="en-US" dirty="0" smtClean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0"/>
          <p:cNvSpPr/>
          <p:nvPr/>
        </p:nvSpPr>
        <p:spPr>
          <a:xfrm>
            <a:off x="238125" y="168910"/>
            <a:ext cx="6668135" cy="5213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Conclusion &amp; Future Scope</a:t>
            </a:r>
            <a:endParaRPr lang="en-US" sz="40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6515" y="1960245"/>
            <a:ext cx="6042025" cy="2957830"/>
          </a:xfrm>
          <a:prstGeom prst="roundRect">
            <a:avLst>
              <a:gd name="adj" fmla="val 8108"/>
            </a:avLst>
          </a:prstGeom>
          <a:solidFill>
            <a:srgbClr val="FFF0ED"/>
          </a:solidFill>
        </p:spPr>
        <p:txBody>
          <a:bodyPr/>
          <a:lstStyle/>
          <a:p>
            <a:endParaRPr lang="en-IN" sz="1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9390" y="1365250"/>
            <a:ext cx="3230880" cy="2609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Summary of Contributions</a:t>
            </a:r>
            <a:endParaRPr lang="en-US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38125" y="2117725"/>
            <a:ext cx="5624195" cy="2306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Novel hybrid pipeline combining Sky Segmentation, DCP, PCA, and RBMO optimization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Eliminates sky-region bias — a critical gap in traditional DCP methods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Metaheuristic tuning achieves superior PSNR/SSIM with fewer artifacts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Validated on four real and synthetic benchmark datasets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44360" y="1365250"/>
            <a:ext cx="3323590" cy="2609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Inter" panose="02000503000000020004" pitchFamily="34" charset="-122"/>
                <a:cs typeface="Calibri" panose="020F0502020204030204" pitchFamily="34" charset="0"/>
              </a:rPr>
              <a:t>Future Research Directions</a:t>
            </a:r>
            <a:endParaRPr lang="en-US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Inter" panose="020005030000000200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81140" y="1960245"/>
            <a:ext cx="5741035" cy="2306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4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Dark Region Handling:</a:t>
            </a: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 Extend the model to handle nighttime and underexposed foggy scenes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4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Real-Time Processing:</a:t>
            </a: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 Optimize for embedded and edge computing platforms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4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Deep Integration:</a:t>
            </a: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 Combine RBMO with lightweight neural networks for adaptive defogging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4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Video Defogging:</a:t>
            </a: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 Extend the pipeline to temporal video sequences with temporal consistency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20015" y="5163820"/>
            <a:ext cx="11990705" cy="974725"/>
          </a:xfrm>
          <a:prstGeom prst="roundRect">
            <a:avLst>
              <a:gd name="adj" fmla="val 15387"/>
            </a:avLst>
          </a:prstGeom>
          <a:solidFill>
            <a:srgbClr val="FFC4B3"/>
          </a:solidFill>
        </p:spPr>
        <p:txBody>
          <a:bodyPr/>
          <a:lstStyle/>
          <a:p>
            <a:endParaRPr lang="en-IN" sz="140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413375"/>
            <a:ext cx="263525" cy="2108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5160" y="5252085"/>
            <a:ext cx="11104245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Calibri" panose="020F0502020204030204" pitchFamily="34" charset="0"/>
                <a:ea typeface="Manrope" pitchFamily="34" charset="-122"/>
                <a:cs typeface="Calibri" panose="020F0502020204030204" pitchFamily="34" charset="0"/>
              </a:rPr>
              <a:t>This research advances the state-of-the-art in physics-based image restoration by bridging classical priors with modern metaheuristic intelligence.</a:t>
            </a:r>
            <a:endParaRPr lang="en-US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Calibri" panose="020F0502020204030204" pitchFamily="34" charset="0"/>
              <a:ea typeface="Manrope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2.15000000000026,&quot;left&quot;:12,&quot;top&quot;:114.8,&quot;width&quot;:870.6}"/>
</p:tagLst>
</file>

<file path=ppt/tags/tag2.xml><?xml version="1.0" encoding="utf-8"?>
<p:tagLst xmlns:p="http://schemas.openxmlformats.org/presentationml/2006/main">
  <p:tag name="KSO_WM_DIAGRAM_VIRTUALLY_FRAME" val="{&quot;height&quot;:412.15000000000026,&quot;left&quot;:12,&quot;top&quot;:114.8,&quot;width&quot;:870.6}"/>
</p:tagLst>
</file>

<file path=ppt/tags/tag3.xml><?xml version="1.0" encoding="utf-8"?>
<p:tagLst xmlns:p="http://schemas.openxmlformats.org/presentationml/2006/main">
  <p:tag name="KSO_WM_DIAGRAM_VIRTUALLY_FRAME" val="{&quot;height&quot;:412.15000000000026,&quot;left&quot;:12,&quot;top&quot;:114.8,&quot;width&quot;:870.6}"/>
</p:tagLst>
</file>

<file path=ppt/tags/tag4.xml><?xml version="1.0" encoding="utf-8"?>
<p:tagLst xmlns:p="http://schemas.openxmlformats.org/presentationml/2006/main">
  <p:tag name="KSO_WM_DIAGRAM_VIRTUALLY_FRAME" val="{&quot;height&quot;:412.15000000000026,&quot;left&quot;:12,&quot;top&quot;:114.8,&quot;width&quot;:870.6}"/>
</p:tagLst>
</file>

<file path=ppt/tags/tag5.xml><?xml version="1.0" encoding="utf-8"?>
<p:tagLst xmlns:p="http://schemas.openxmlformats.org/presentationml/2006/main">
  <p:tag name="KSO_WM_DIAGRAM_VIRTUALLY_FRAME" val="{&quot;height&quot;:412.15000000000026,&quot;left&quot;:12,&quot;top&quot;:114.8,&quot;width&quot;:870.6}"/>
</p:tagLst>
</file>

<file path=ppt/tags/tag6.xml><?xml version="1.0" encoding="utf-8"?>
<p:tagLst xmlns:p="http://schemas.openxmlformats.org/presentationml/2006/main">
  <p:tag name="KSO_WM_DIAGRAM_VIRTUALLY_FRAME" val="{&quot;height&quot;:412.15000000000026,&quot;left&quot;:12,&quot;top&quot;:114.8,&quot;width&quot;:870.6}"/>
</p:tagLst>
</file>

<file path=ppt/tags/tag7.xml><?xml version="1.0" encoding="utf-8"?>
<p:tagLst xmlns:p="http://schemas.openxmlformats.org/presentationml/2006/main">
  <p:tag name="KSO_WM_DIAGRAM_VIRTUALLY_FRAME" val="{&quot;height&quot;:412.15000000000026,&quot;left&quot;:12,&quot;top&quot;:114.8,&quot;width&quot;:870.6}"/>
</p:tagLst>
</file>

<file path=ppt/tags/tag8.xml><?xml version="1.0" encoding="utf-8"?>
<p:tagLst xmlns:p="http://schemas.openxmlformats.org/presentationml/2006/main">
  <p:tag name="KSO_WM_DIAGRAM_VIRTUALLY_FRAME" val="{&quot;height&quot;:412.15000000000026,&quot;left&quot;:12,&quot;top&quot;:114.8,&quot;width&quot;:870.6}"/>
</p:tagLst>
</file>

<file path=ppt/tags/tag9.xml><?xml version="1.0" encoding="utf-8"?>
<p:tagLst xmlns:p="http://schemas.openxmlformats.org/presentationml/2006/main">
  <p:tag name="KSO_WM_DIAGRAM_VIRTUALLY_FRAME" val="{&quot;height&quot;:412.15000000000026,&quot;left&quot;:12,&quot;top&quot;:114.8,&quot;width&quot;:870.6}"/>
</p:tagLst>
</file>

<file path=ppt/tags/tag10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11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12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13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14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15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16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17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18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19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20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21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22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23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24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25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26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27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28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29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30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31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32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33.xml><?xml version="1.0" encoding="utf-8"?>
<p:tagLst xmlns:p="http://schemas.openxmlformats.org/presentationml/2006/main">
  <p:tag name="KSO_WM_DIAGRAM_VIRTUALLY_FRAME" val="{&quot;height&quot;:301.8,&quot;left&quot;:16.55,&quot;top&quot;:190.5,&quot;width&quot;:935.05}"/>
</p:tagLst>
</file>

<file path=ppt/tags/tag34.xml><?xml version="1.0" encoding="utf-8"?>
<p:tagLst xmlns:p="http://schemas.openxmlformats.org/presentationml/2006/main">
  <p:tag name="KSO_WM_DIAGRAM_VIRTUALLY_FRAME" val="{&quot;height&quot;:373.7,&quot;left&quot;:19.7,&quot;top&quot;:98.05,&quot;width&quot;:782}"/>
</p:tagLst>
</file>

<file path=ppt/tags/tag35.xml><?xml version="1.0" encoding="utf-8"?>
<p:tagLst xmlns:p="http://schemas.openxmlformats.org/presentationml/2006/main">
  <p:tag name="KSO_WM_DIAGRAM_VIRTUALLY_FRAME" val="{&quot;height&quot;:373.7,&quot;left&quot;:19.7,&quot;top&quot;:98.05,&quot;width&quot;:782}"/>
</p:tagLst>
</file>

<file path=ppt/tags/tag36.xml><?xml version="1.0" encoding="utf-8"?>
<p:tagLst xmlns:p="http://schemas.openxmlformats.org/presentationml/2006/main">
  <p:tag name="KSO_WM_DIAGRAM_VIRTUALLY_FRAME" val="{&quot;height&quot;:373.7,&quot;left&quot;:19.7,&quot;top&quot;:98.05,&quot;width&quot;:782}"/>
</p:tagLst>
</file>

<file path=ppt/tags/tag37.xml><?xml version="1.0" encoding="utf-8"?>
<p:tagLst xmlns:p="http://schemas.openxmlformats.org/presentationml/2006/main">
  <p:tag name="KSO_WM_DIAGRAM_VIRTUALLY_FRAME" val="{&quot;height&quot;:373.7,&quot;left&quot;:19.7,&quot;top&quot;:98.05,&quot;width&quot;:782}"/>
</p:tagLst>
</file>

<file path=ppt/tags/tag38.xml><?xml version="1.0" encoding="utf-8"?>
<p:tagLst xmlns:p="http://schemas.openxmlformats.org/presentationml/2006/main">
  <p:tag name="KSO_WM_DIAGRAM_VIRTUALLY_FRAME" val="{&quot;height&quot;:373.7,&quot;left&quot;:19.7,&quot;top&quot;:98.05,&quot;width&quot;:782}"/>
</p:tagLst>
</file>

<file path=ppt/tags/tag39.xml><?xml version="1.0" encoding="utf-8"?>
<p:tagLst xmlns:p="http://schemas.openxmlformats.org/presentationml/2006/main">
  <p:tag name="KSO_WM_DIAGRAM_VIRTUALLY_FRAME" val="{&quot;height&quot;:373.7,&quot;left&quot;:19.7,&quot;top&quot;:98.05,&quot;width&quot;:782}"/>
</p:tagLst>
</file>

<file path=ppt/tags/tag40.xml><?xml version="1.0" encoding="utf-8"?>
<p:tagLst xmlns:p="http://schemas.openxmlformats.org/presentationml/2006/main">
  <p:tag name="KSO_WM_DIAGRAM_VIRTUALLY_FRAME" val="{&quot;height&quot;:373.7,&quot;left&quot;:19.7,&quot;top&quot;:98.05,&quot;width&quot;:782}"/>
</p:tagLst>
</file>

<file path=ppt/tags/tag41.xml><?xml version="1.0" encoding="utf-8"?>
<p:tagLst xmlns:p="http://schemas.openxmlformats.org/presentationml/2006/main">
  <p:tag name="KSO_WM_DIAGRAM_VIRTUALLY_FRAME" val="{&quot;height&quot;:373.7,&quot;left&quot;:19.7,&quot;top&quot;:98.05,&quot;width&quot;:782}"/>
</p:tagLst>
</file>

<file path=ppt/tags/tag42.xml><?xml version="1.0" encoding="utf-8"?>
<p:tagLst xmlns:p="http://schemas.openxmlformats.org/presentationml/2006/main">
  <p:tag name="KSO_WM_DIAGRAM_VIRTUALLY_FRAME" val="{&quot;height&quot;:373.7,&quot;left&quot;:19.7,&quot;top&quot;:98.05,&quot;width&quot;:782}"/>
</p:tagLst>
</file>

<file path=ppt/tags/tag43.xml><?xml version="1.0" encoding="utf-8"?>
<p:tagLst xmlns:p="http://schemas.openxmlformats.org/presentationml/2006/main">
  <p:tag name="KSO_WM_DIAGRAM_VIRTUALLY_FRAME" val="{&quot;height&quot;:373.7,&quot;left&quot;:19.7,&quot;top&quot;:98.05,&quot;width&quot;:782}"/>
</p:tagLst>
</file>

<file path=ppt/tags/tag44.xml><?xml version="1.0" encoding="utf-8"?>
<p:tagLst xmlns:p="http://schemas.openxmlformats.org/presentationml/2006/main">
  <p:tag name="KSO_WM_DIAGRAM_VIRTUALLY_FRAME" val="{&quot;height&quot;:373.7,&quot;left&quot;:19.7,&quot;top&quot;:98.05,&quot;width&quot;:782}"/>
</p:tagLst>
</file>

<file path=ppt/tags/tag45.xml><?xml version="1.0" encoding="utf-8"?>
<p:tagLst xmlns:p="http://schemas.openxmlformats.org/presentationml/2006/main">
  <p:tag name="KSO_WM_DIAGRAM_VIRTUALLY_FRAME" val="{&quot;height&quot;:373.7,&quot;left&quot;:19.7,&quot;top&quot;:98.05,&quot;width&quot;:782}"/>
</p:tagLst>
</file>

<file path=ppt/tags/tag46.xml><?xml version="1.0" encoding="utf-8"?>
<p:tagLst xmlns:p="http://schemas.openxmlformats.org/presentationml/2006/main">
  <p:tag name="KSO_WM_DIAGRAM_VIRTUALLY_FRAME" val="{&quot;height&quot;:284.91559055118114,&quot;left&quot;:11.703149606299212,&quot;top&quot;:152.26251968503936,&quot;width&quot;:494.3437007874016}"/>
</p:tagLst>
</file>

<file path=ppt/tags/tag47.xml><?xml version="1.0" encoding="utf-8"?>
<p:tagLst xmlns:p="http://schemas.openxmlformats.org/presentationml/2006/main">
  <p:tag name="KSO_WM_DIAGRAM_VIRTUALLY_FRAME" val="{&quot;height&quot;:284.91559055118114,&quot;left&quot;:11.703149606299212,&quot;top&quot;:152.26251968503936,&quot;width&quot;:494.3437007874016}"/>
</p:tagLst>
</file>

<file path=ppt/tags/tag48.xml><?xml version="1.0" encoding="utf-8"?>
<p:tagLst xmlns:p="http://schemas.openxmlformats.org/presentationml/2006/main">
  <p:tag name="KSO_WM_DIAGRAM_VIRTUALLY_FRAME" val="{&quot;height&quot;:284.91559055118114,&quot;left&quot;:11.703149606299212,&quot;top&quot;:152.26251968503936,&quot;width&quot;:494.3437007874016}"/>
</p:tagLst>
</file>

<file path=ppt/tags/tag49.xml><?xml version="1.0" encoding="utf-8"?>
<p:tagLst xmlns:p="http://schemas.openxmlformats.org/presentationml/2006/main">
  <p:tag name="KSO_WM_DIAGRAM_VIRTUALLY_FRAME" val="{&quot;height&quot;:284.91559055118114,&quot;left&quot;:11.703149606299212,&quot;top&quot;:152.26251968503936,&quot;width&quot;:494.3437007874016}"/>
</p:tagLst>
</file>

<file path=ppt/tags/tag50.xml><?xml version="1.0" encoding="utf-8"?>
<p:tagLst xmlns:p="http://schemas.openxmlformats.org/presentationml/2006/main">
  <p:tag name="KSO_WM_DIAGRAM_VIRTUALLY_FRAME" val="{&quot;height&quot;:284.91559055118114,&quot;left&quot;:11.703149606299212,&quot;top&quot;:152.26251968503936,&quot;width&quot;:494.3437007874016}"/>
</p:tagLst>
</file>

<file path=ppt/tags/tag51.xml><?xml version="1.0" encoding="utf-8"?>
<p:tagLst xmlns:p="http://schemas.openxmlformats.org/presentationml/2006/main">
  <p:tag name="KSO_WM_DIAGRAM_VIRTUALLY_FRAME" val="{&quot;height&quot;:284.91559055118114,&quot;left&quot;:11.703149606299212,&quot;top&quot;:152.26251968503936,&quot;width&quot;:494.3437007874016}"/>
</p:tagLst>
</file>

<file path=ppt/tags/tag52.xml><?xml version="1.0" encoding="utf-8"?>
<p:tagLst xmlns:p="http://schemas.openxmlformats.org/presentationml/2006/main">
  <p:tag name="KSO_WM_DIAGRAM_VIRTUALLY_FRAME" val="{&quot;height&quot;:284.91559055118114,&quot;left&quot;:11.703149606299212,&quot;top&quot;:152.26251968503936,&quot;width&quot;:494.3437007874016}"/>
</p:tagLst>
</file>

<file path=ppt/tags/tag53.xml><?xml version="1.0" encoding="utf-8"?>
<p:tagLst xmlns:p="http://schemas.openxmlformats.org/presentationml/2006/main">
  <p:tag name="KSO_WM_DIAGRAM_VIRTUALLY_FRAME" val="{&quot;height&quot;:284.91559055118114,&quot;left&quot;:11.703149606299212,&quot;top&quot;:152.26251968503936,&quot;width&quot;:494.3437007874016}"/>
</p:tagLst>
</file>

<file path=ppt/tags/tag54.xml><?xml version="1.0" encoding="utf-8"?>
<p:tagLst xmlns:p="http://schemas.openxmlformats.org/presentationml/2006/main">
  <p:tag name="KSO_WM_DIAGRAM_VIRTUALLY_FRAME" val="{&quot;height&quot;:284.91559055118114,&quot;left&quot;:11.703149606299212,&quot;top&quot;:152.26251968503936,&quot;width&quot;:494.3437007874016}"/>
</p:tagLst>
</file>

<file path=ppt/tags/tag55.xml><?xml version="1.0" encoding="utf-8"?>
<p:tagLst xmlns:p="http://schemas.openxmlformats.org/presentationml/2006/main">
  <p:tag name="KSO_WM_DIAGRAM_VIRTUALLY_FRAME" val="{&quot;height&quot;:284.91559055118114,&quot;left&quot;:11.703149606299212,&quot;top&quot;:152.26251968503936,&quot;width&quot;:494.3437007874016}"/>
</p:tagLst>
</file>

<file path=ppt/tags/tag56.xml><?xml version="1.0" encoding="utf-8"?>
<p:tagLst xmlns:p="http://schemas.openxmlformats.org/presentationml/2006/main">
  <p:tag name="KSO_WM_DIAGRAM_VIRTUALLY_FRAME" val="{&quot;height&quot;:284.91559055118114,&quot;left&quot;:11.703149606299212,&quot;top&quot;:152.26251968503936,&quot;width&quot;:494.3437007874016}"/>
</p:tagLst>
</file>

<file path=ppt/tags/tag57.xml><?xml version="1.0" encoding="utf-8"?>
<p:tagLst xmlns:p="http://schemas.openxmlformats.org/presentationml/2006/main">
  <p:tag name="KSO_WM_DIAGRAM_VIRTUALLY_FRAME" val="{&quot;height&quot;:284.91559055118114,&quot;left&quot;:11.703149606299212,&quot;top&quot;:152.26251968503936,&quot;width&quot;:494.3437007874016}"/>
</p:tagLst>
</file>

<file path=ppt/tags/tag58.xml><?xml version="1.0" encoding="utf-8"?>
<p:tagLst xmlns:p="http://schemas.openxmlformats.org/presentationml/2006/main">
  <p:tag name="KSO_WM_DIAGRAM_VIRTUALLY_FRAME" val="{&quot;height&quot;:292.6,&quot;left&quot;:21.85,&quot;top&quot;:105.4,&quot;width&quot;:922.8}"/>
</p:tagLst>
</file>

<file path=ppt/tags/tag59.xml><?xml version="1.0" encoding="utf-8"?>
<p:tagLst xmlns:p="http://schemas.openxmlformats.org/presentationml/2006/main">
  <p:tag name="KSO_WM_DIAGRAM_VIRTUALLY_FRAME" val="{&quot;height&quot;:292.6,&quot;left&quot;:21.85,&quot;top&quot;:105.4,&quot;width&quot;:922.8}"/>
</p:tagLst>
</file>

<file path=ppt/tags/tag60.xml><?xml version="1.0" encoding="utf-8"?>
<p:tagLst xmlns:p="http://schemas.openxmlformats.org/presentationml/2006/main">
  <p:tag name="KSO_WM_DIAGRAM_VIRTUALLY_FRAME" val="{&quot;height&quot;:292.6,&quot;left&quot;:21.85,&quot;top&quot;:105.4,&quot;width&quot;:922.8}"/>
</p:tagLst>
</file>

<file path=ppt/tags/tag61.xml><?xml version="1.0" encoding="utf-8"?>
<p:tagLst xmlns:p="http://schemas.openxmlformats.org/presentationml/2006/main">
  <p:tag name="KSO_WM_DIAGRAM_VIRTUALLY_FRAME" val="{&quot;height&quot;:292.6,&quot;left&quot;:21.85,&quot;top&quot;:105.4,&quot;width&quot;:922.8}"/>
</p:tagLst>
</file>

<file path=ppt/tags/tag62.xml><?xml version="1.0" encoding="utf-8"?>
<p:tagLst xmlns:p="http://schemas.openxmlformats.org/presentationml/2006/main">
  <p:tag name="KSO_WM_DIAGRAM_VIRTUALLY_FRAME" val="{&quot;height&quot;:292.6,&quot;left&quot;:21.85,&quot;top&quot;:105.4,&quot;width&quot;:922.8}"/>
</p:tagLst>
</file>

<file path=ppt/tags/tag63.xml><?xml version="1.0" encoding="utf-8"?>
<p:tagLst xmlns:p="http://schemas.openxmlformats.org/presentationml/2006/main">
  <p:tag name="KSO_WM_DIAGRAM_VIRTUALLY_FRAME" val="{&quot;height&quot;:292.6,&quot;left&quot;:21.85,&quot;top&quot;:105.4,&quot;width&quot;:922.8}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5286</Words>
  <Application>WPS Presentation</Application>
  <PresentationFormat>Widescreen</PresentationFormat>
  <Paragraphs>211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Arial</vt:lpstr>
      <vt:lpstr>Inter</vt:lpstr>
      <vt:lpstr>Corbel</vt:lpstr>
      <vt:lpstr>Inter</vt:lpstr>
      <vt:lpstr>Inter</vt:lpstr>
      <vt:lpstr>Calibri</vt:lpstr>
      <vt:lpstr>Manrope</vt:lpstr>
      <vt:lpstr>Manrope</vt:lpstr>
      <vt:lpstr>Manrope</vt:lpstr>
      <vt:lpstr>Segoe Print</vt:lpstr>
      <vt:lpstr>Microsoft YaHei</vt:lpstr>
      <vt:lpstr>Arial Unicode MS</vt:lpstr>
      <vt:lpstr>PMingLiU-ExtB</vt:lpstr>
      <vt:lpstr>MingLiU-ExtB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Ranjan Kumar</dc:creator>
  <cp:lastModifiedBy>Divyansh jain</cp:lastModifiedBy>
  <cp:revision>181</cp:revision>
  <dcterms:created xsi:type="dcterms:W3CDTF">2024-04-28T10:13:00Z</dcterms:created>
  <dcterms:modified xsi:type="dcterms:W3CDTF">2026-04-20T05:24:27Z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5A11426F49C348C6BC75F6D0CDCD947C_13</vt:lpwstr>
  </property>
  <property fmtid="{D5CDD505-2E9C-101B-9397-08002B2CF9AE}" pid="3" name="KSOProductBuildVer">
    <vt:lpwstr>1033-12.2.0.23196</vt:lpwstr>
  </property>
</Properties>
</file>